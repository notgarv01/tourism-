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3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822960"/>
            <a:ext cx="5029200" cy="347472"/>
          </a:xfrm>
          <a:prstGeom prst="roundRect">
            <a:avLst/>
          </a:prstGeom>
          <a:solidFill>
            <a:srgbClr val="1B4231"/>
          </a:solidFill>
          <a:ln>
            <a:solidFill>
              <a:srgbClr val="1B4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9FE859"/>
                </a:solidFill>
                <a:latin typeface="Arial"/>
              </a:defRPr>
            </a:pPr>
            <a:r>
              <a:t>SMART TOURISM INTELLIGENCE • UDAIPUR PILOT •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Georgia"/>
              </a:defRPr>
            </a:pPr>
            <a:r>
              <a:t>Good travels spread.</a:t>
            </a:r>
          </a:p>
          <a:p>
            <a:pPr>
              <a:defRPr sz="5400" b="1" i="1">
                <a:solidFill>
                  <a:srgbClr val="9FE859"/>
                </a:solidFill>
                <a:latin typeface="Georgia"/>
              </a:defRPr>
            </a:pPr>
            <a:r>
              <a:t>Crowds don't.</a:t>
            </a:r>
          </a:p>
          <a:p>
            <a:pPr>
              <a:spcBef>
                <a:spcPts val="2000"/>
              </a:spcBef>
              <a:defRPr sz="1700">
                <a:solidFill>
                  <a:srgbClr val="C0CFC7"/>
                </a:solidFill>
                <a:latin typeface="Arial"/>
              </a:defRPr>
            </a:pPr>
            <a:r>
              <a:t>CROWDWISE: A Predictive Tourism Decision Engine that foresees crowd bottlenecks, preserves traveler intent with experience-matched alternatives, and replans itineraries on live disruptions.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5029200"/>
            <a:ext cx="10332720" cy="1097280"/>
          </a:xfrm>
          <a:prstGeom prst="roundRect">
            <a:avLst/>
          </a:prstGeom>
          <a:solidFill>
            <a:srgbClr val="1B4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51206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9FE859"/>
                </a:solidFill>
                <a:latin typeface="Arial"/>
              </a:defRPr>
            </a:pPr>
            <a:r>
              <a:t>Team Out of Scope  |  Pilot City: Udaipur, Rajasthan  |  Architecture: 4-Tier Ingestion &amp; Provenance  |  Status: Working MVP Live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Features: Multi-Stop Routing Engine • Intent Preserver • 4 Live Proxies • Zero-Fake AI Doctrine • 12 Defensible Judge Q&amp;As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640080"/>
            <a:ext cx="2560320" cy="320040"/>
          </a:xfrm>
          <a:prstGeom prst="roundRect">
            <a:avLst/>
          </a:prstGeom>
          <a:solidFill>
            <a:srgbClr val="F1ECE0"/>
          </a:solidFill>
          <a:ln>
            <a:solidFill>
              <a:srgbClr val="F1E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5A655F"/>
                </a:solidFill>
                <a:latin typeface="Arial"/>
              </a:defRPr>
            </a:pPr>
            <a:r>
              <a:t>THE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C241E"/>
                </a:solidFill>
                <a:latin typeface="Georgia"/>
              </a:defRPr>
            </a:pPr>
            <a:r>
              <a:t>Your trip is shouting into the void.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493776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94560"/>
            <a:ext cx="4389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F4444"/>
                </a:solidFill>
                <a:latin typeface="Georgia"/>
              </a:defRPr>
            </a:pPr>
            <a:r>
              <a:t>The Severe Tourist Bottleneck</a:t>
            </a:r>
          </a:p>
          <a:p>
            <a:pPr>
              <a:spcBef>
                <a:spcPts val="1200"/>
              </a:spcBef>
              <a:defRPr sz="1400">
                <a:solidFill>
                  <a:srgbClr val="1C241E"/>
                </a:solidFill>
                <a:latin typeface="Arial"/>
              </a:defRPr>
            </a:pPr>
            <a:r>
              <a:t>• 2,800+ visitors queue simultaneously at City Palace ticket counters between 11:30 AM and 3:30 PM.</a:t>
            </a:r>
            <a:br/>
            <a:r>
              <a:t>• 3+ hours lost per tourist standing in unmoving queues and narrow Jagdish Chowk vehicular gridlock.</a:t>
            </a:r>
            <a:br/>
            <a:r>
              <a:t>• Heritage monuments suffer structural crowding while nearby gems sit empty and under-visited.</a:t>
            </a:r>
            <a:br/>
            <a:r>
              <a:t>• Destination managers lack real-time decision intelligence to forecast and redistribute pressure.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011680"/>
            <a:ext cx="4937760" cy="4114800"/>
          </a:xfrm>
          <a:prstGeom prst="roundRect">
            <a:avLst/>
          </a:prstGeom>
          <a:solidFill>
            <a:srgbClr val="143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2194560"/>
            <a:ext cx="4389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9FE859"/>
                </a:solidFill>
                <a:latin typeface="Georgia"/>
              </a:defRPr>
            </a:pPr>
            <a:r>
              <a:t>Why Existing Tools Fail Tourists</a:t>
            </a:r>
          </a:p>
          <a:p>
            <a:pPr>
              <a:spcBef>
                <a:spcPts val="1200"/>
              </a:spcBef>
              <a:defRPr sz="1400">
                <a:solidFill>
                  <a:srgbClr val="FFFFFF"/>
                </a:solidFill>
                <a:latin typeface="Arial"/>
              </a:defRPr>
            </a:pPr>
            <a:r>
              <a:t>• Google Maps is a PASSIVE LOOKUP tool for single spots—it has no concept of tourist travel intent.</a:t>
            </a:r>
            <a:br/>
            <a:r>
              <a:t>• If Lake Pichola is packed, Google won't find you an equivalent sunset boating spot like Fateh Sagar.</a:t>
            </a:r>
            <a:br/>
            <a:r>
              <a:t>• Zero route re-planning: When sudden rain or closure strikes, static tools leave tourists stranded.</a:t>
            </a:r>
            <a:br/>
            <a:r>
              <a:t>• Fake 'Live Camera AI' apps fail judges because camera view != site-wide ground truth.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640080"/>
            <a:ext cx="2926080" cy="320040"/>
          </a:xfrm>
          <a:prstGeom prst="roundRect">
            <a:avLst/>
          </a:prstGeom>
          <a:solidFill>
            <a:srgbClr val="F1ECE0"/>
          </a:solidFill>
          <a:ln>
            <a:solidFill>
              <a:srgbClr val="F1E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5A655F"/>
                </a:solidFill>
                <a:latin typeface="Arial"/>
              </a:defRPr>
            </a:pPr>
            <a:r>
              <a:t>SYSTEM VISION &amp; CORE 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C241E"/>
                </a:solidFill>
                <a:latin typeface="Georgia"/>
              </a:defRPr>
            </a:pPr>
            <a:r>
              <a:t>A Tourism Decision Engine, Not Just A Map.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920240"/>
            <a:ext cx="493776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05740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3325"/>
                </a:solidFill>
                <a:latin typeface="Georgia"/>
              </a:defRPr>
            </a:pPr>
            <a:r>
              <a:t>1. Where should I go?</a:t>
            </a:r>
          </a:p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INTENT-PRESERVING DISCOVERY</a:t>
            </a:r>
          </a:p>
          <a:p>
            <a:pPr>
              <a:spcBef>
                <a:spcPts val="400"/>
              </a:spcBef>
              <a:defRPr sz="1200">
                <a:solidFill>
                  <a:srgbClr val="1C241E"/>
                </a:solidFill>
                <a:latin typeface="Arial"/>
              </a:defRPr>
            </a:pPr>
            <a:r>
              <a:t>Matches royal heritage to royal heritage, sunset boating to sunset boating. Filters out closed, inaccessible, or fragile locations.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920240"/>
            <a:ext cx="493776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205740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3325"/>
                </a:solidFill>
                <a:latin typeface="Georgia"/>
              </a:defRPr>
            </a:pPr>
            <a:r>
              <a:t>2. When should I go?</a:t>
            </a:r>
          </a:p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HOURLY OFF-PEAK FORECASTING</a:t>
            </a:r>
          </a:p>
          <a:p>
            <a:pPr>
              <a:spcBef>
                <a:spcPts val="400"/>
              </a:spcBef>
              <a:defRPr sz="1200">
                <a:solidFill>
                  <a:srgbClr val="1C241E"/>
                </a:solidFill>
                <a:latin typeface="Arial"/>
              </a:defRPr>
            </a:pPr>
            <a:r>
              <a:t>Isolates high-pressure bottlenecks (12-4 PM) and pinpoints quiet visiting slots (e.g. 09:15 AM before tour buses arrive).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114800"/>
            <a:ext cx="493776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25196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3325"/>
                </a:solidFill>
                <a:latin typeface="Georgia"/>
              </a:defRPr>
            </a:pPr>
            <a:r>
              <a:t>3. How crowded will it be?</a:t>
            </a:r>
          </a:p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EXPLAINABLE MULTI-SIGNAL SCORE</a:t>
            </a:r>
          </a:p>
          <a:p>
            <a:pPr>
              <a:spcBef>
                <a:spcPts val="400"/>
              </a:spcBef>
              <a:defRPr sz="1200">
                <a:solidFill>
                  <a:srgbClr val="1C241E"/>
                </a:solidFill>
                <a:latin typeface="Arial"/>
              </a:defRPr>
            </a:pPr>
            <a:r>
              <a:t>Outputs Low / Mod / High score (0-100) with confidence metrics and 5 immutable provenance badges (Live, Recent, Hist, Pred, Sim).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114800"/>
            <a:ext cx="493776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425196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3325"/>
                </a:solidFill>
                <a:latin typeface="Georgia"/>
              </a:defRPr>
            </a:pPr>
            <a:r>
              <a:t>4. If plans change, what next?</a:t>
            </a:r>
          </a:p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DYNAMIC ROUTE RE-PLANNER</a:t>
            </a:r>
          </a:p>
          <a:p>
            <a:pPr>
              <a:spcBef>
                <a:spcPts val="400"/>
              </a:spcBef>
              <a:defRPr sz="1200">
                <a:solidFill>
                  <a:srgbClr val="1C241E"/>
                </a:solidFill>
                <a:latin typeface="Arial"/>
              </a:defRPr>
            </a:pPr>
            <a:r>
              <a:t>In-trip re-routing service (/api/itineraries/replan) that instantly swaps affected stops on rain, closure, or surges with zero panic.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640080"/>
            <a:ext cx="3291840" cy="320040"/>
          </a:xfrm>
          <a:prstGeom prst="roundRect">
            <a:avLst/>
          </a:prstGeom>
          <a:solidFill>
            <a:srgbClr val="F1ECE0"/>
          </a:solidFill>
          <a:ln>
            <a:solidFill>
              <a:srgbClr val="F1E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5A655F"/>
                </a:solidFill>
                <a:latin typeface="Arial"/>
              </a:defRPr>
            </a:pPr>
            <a:r>
              <a:t>CRITICAL TECHNICAL DIFFERENTIATOR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C241E"/>
                </a:solidFill>
                <a:latin typeface="Georgia"/>
              </a:defRPr>
            </a:pPr>
            <a:r>
              <a:t>Where Does Real-Time Crowd Data Actually Come From?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920240"/>
            <a:ext cx="10332720" cy="1005840"/>
          </a:xfrm>
          <a:prstGeom prst="roundRect">
            <a:avLst/>
          </a:prstGeom>
          <a:solidFill>
            <a:srgbClr val="143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011680"/>
            <a:ext cx="9784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FE859"/>
                </a:solidFill>
                <a:latin typeface="Arial"/>
              </a:defRPr>
            </a:pPr>
            <a:r>
              <a:t>THE ZERO-FAKE AI REALITY: 80% DETERMINISTIC BASELINE + 20% LIVE PROXY SIGNALS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In tourism, 80% of crowd dynamics are predictable (Saturday 2 PM in Oct = City Palace is always packed). We do NOT fake citywide CCTV headcounts. We fuse empirical baselines with 4 real-world live proxies.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200400"/>
            <a:ext cx="2377440" cy="3017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29184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3325"/>
                </a:solidFill>
                <a:latin typeface="Georgia"/>
              </a:defRPr>
            </a:pPr>
            <a:r>
              <a:t>Proxy 1: Road Traffic Congestion</a:t>
            </a:r>
          </a:p>
          <a:p>
            <a:pPr>
              <a:defRPr sz="900" b="1">
                <a:solidFill>
                  <a:srgbClr val="0284C7"/>
                </a:solidFill>
                <a:latin typeface="Arial"/>
              </a:defRPr>
            </a:pPr>
            <a:r>
              <a:t>TOMTOM / MAPBOX APIS</a:t>
            </a:r>
          </a:p>
          <a:p>
            <a:pPr>
              <a:spcBef>
                <a:spcPts val="600"/>
              </a:spcBef>
              <a:defRPr sz="1100">
                <a:solidFill>
                  <a:srgbClr val="1C241E"/>
                </a:solidFill>
                <a:latin typeface="Arial"/>
              </a:defRPr>
            </a:pPr>
            <a:r>
              <a:t>Access roads to Udaipur heritage sites (Jagdish Chowk) are narrow. Delay &gt;15 min directly correlates with tourist surges.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3200400"/>
            <a:ext cx="2377440" cy="3017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329184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3325"/>
                </a:solidFill>
                <a:latin typeface="Georgia"/>
              </a:defRPr>
            </a:pPr>
            <a:r>
              <a:t>Proxy 2: Online Ticket Saturation</a:t>
            </a:r>
          </a:p>
          <a:p>
            <a:pPr>
              <a:defRPr sz="900" b="1">
                <a:solidFill>
                  <a:srgbClr val="0284C7"/>
                </a:solidFill>
                <a:latin typeface="Arial"/>
              </a:defRPr>
            </a:pPr>
            <a:r>
              <a:t>ASI &amp; GOVT PORTALS</a:t>
            </a:r>
          </a:p>
          <a:p>
            <a:pPr>
              <a:spcBef>
                <a:spcPts val="600"/>
              </a:spcBef>
              <a:defRPr sz="1100">
                <a:solidFill>
                  <a:srgbClr val="1C241E"/>
                </a:solidFill>
                <a:latin typeface="Arial"/>
              </a:defRPr>
            </a:pPr>
            <a:r>
              <a:t>Checking 1-2 hour online booking slot availability. If 2 PM tickets are 85%+ booked or sold out -&gt; High Crowd.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200400"/>
            <a:ext cx="2377440" cy="3017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329184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3325"/>
                </a:solidFill>
                <a:latin typeface="Georgia"/>
              </a:defRPr>
            </a:pPr>
            <a:r>
              <a:t>Proxy 3: Open-Meteo Weather</a:t>
            </a:r>
          </a:p>
          <a:p>
            <a:pPr>
              <a:defRPr sz="900" b="1">
                <a:solidFill>
                  <a:srgbClr val="0284C7"/>
                </a:solidFill>
                <a:latin typeface="Arial"/>
              </a:defRPr>
            </a:pPr>
            <a:r>
              <a:t>FREE LIVE WEATHER API</a:t>
            </a:r>
          </a:p>
          <a:p>
            <a:pPr>
              <a:spcBef>
                <a:spcPts val="600"/>
              </a:spcBef>
              <a:defRPr sz="1100">
                <a:solidFill>
                  <a:srgbClr val="1C241E"/>
                </a:solidFill>
                <a:latin typeface="Arial"/>
              </a:defRPr>
            </a:pPr>
            <a:r>
              <a:t>Hourly rainfall (&gt;10mm/h) and extreme heat (&gt;38C) actively suppress outdoor promenades and halt boating.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3200400"/>
            <a:ext cx="2377440" cy="3017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6840" y="3291840"/>
            <a:ext cx="2103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3325"/>
                </a:solidFill>
                <a:latin typeface="Georgia"/>
              </a:defRPr>
            </a:pPr>
            <a:r>
              <a:t>Proxy 4: Decaying User Reports</a:t>
            </a:r>
          </a:p>
          <a:p>
            <a:pPr>
              <a:defRPr sz="900" b="1">
                <a:solidFill>
                  <a:srgbClr val="0284C7"/>
                </a:solidFill>
                <a:latin typeface="Arial"/>
              </a:defRPr>
            </a:pPr>
            <a:r>
              <a:t>WAZE-STYLE 1-TAP LOGS</a:t>
            </a:r>
          </a:p>
          <a:p>
            <a:pPr>
              <a:spcBef>
                <a:spcPts val="600"/>
              </a:spcBef>
              <a:defRPr sz="1100">
                <a:solidFill>
                  <a:srgbClr val="1C241E"/>
                </a:solidFill>
                <a:latin typeface="Arial"/>
              </a:defRPr>
            </a:pPr>
            <a:r>
              <a:t>Visitor reports (&lt;10m, 15-30m, 45m+) protected by 30-min exponential decay, IP rate limits, and 3-report quorum.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640080"/>
            <a:ext cx="3291840" cy="320040"/>
          </a:xfrm>
          <a:prstGeom prst="roundRect">
            <a:avLst/>
          </a:prstGeom>
          <a:solidFill>
            <a:srgbClr val="F1ECE0"/>
          </a:solidFill>
          <a:ln>
            <a:solidFill>
              <a:srgbClr val="F1E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5A655F"/>
                </a:solidFill>
                <a:latin typeface="Arial"/>
              </a:defRPr>
            </a:pPr>
            <a:r>
              <a:t>PREDICTIVE ALGORITHMS &amp; SCORING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C241E"/>
                </a:solidFill>
                <a:latin typeface="Georgia"/>
              </a:defRPr>
            </a:pPr>
            <a:r>
              <a:t>Mathematical Formulations &amp; Thresholds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493776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94560"/>
            <a:ext cx="4389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43325"/>
                </a:solidFill>
                <a:latin typeface="Georgia"/>
              </a:defRPr>
            </a:pPr>
            <a:r>
              <a:t>1. Baseline Crowd Score Engine</a:t>
            </a:r>
          </a:p>
          <a:p>
            <a:pPr>
              <a:spcBef>
                <a:spcPts val="800"/>
              </a:spcBef>
              <a:defRPr sz="1200" b="1">
                <a:solidFill>
                  <a:srgbClr val="0284C7"/>
                </a:solidFill>
                <a:latin typeface="Courier New"/>
              </a:defRPr>
            </a:pPr>
            <a:r>
              <a:t>CrowdScore(d, t) = 0.40(Chist) + 0.30(Scal) + 0.20(Eevent) + 0.10(Wweather)</a:t>
            </a:r>
          </a:p>
          <a:p>
            <a:pPr>
              <a:spcBef>
                <a:spcPts val="1000"/>
              </a:spcBef>
              <a:defRPr sz="1200">
                <a:solidFill>
                  <a:srgbClr val="1C241E"/>
                </a:solidFill>
                <a:latin typeface="Arial"/>
              </a:defRPr>
            </a:pPr>
            <a:r>
              <a:t>• Chist (40%): Historical hourly curve for day-of-week.</a:t>
            </a:r>
            <a:br/>
            <a:r>
              <a:t>• Scal (30%): Calendar surge (0=weekday, 60=weekend, 100=holiday).</a:t>
            </a:r>
            <a:br/>
            <a:r>
              <a:t>• Eevent (20%): Proximity to Mewar festivals &amp; evening light shows.</a:t>
            </a:r>
            <a:br/>
            <a:r>
              <a:t>• Wweather (10%): Temperature (&gt;38C) &amp; rainfall (&gt;10mm) penalty.</a:t>
            </a:r>
          </a:p>
          <a:p>
            <a:pPr>
              <a:spcBef>
                <a:spcPts val="1000"/>
              </a:spcBef>
              <a:defRPr sz="1200" b="1">
                <a:solidFill>
                  <a:srgbClr val="143325"/>
                </a:solidFill>
                <a:latin typeface="Arial"/>
              </a:defRPr>
            </a:pPr>
            <a:r>
              <a:t>Classification Boundaries:</a:t>
            </a:r>
            <a:br/>
            <a:r>
              <a:t>🟢 Low: 0-34   |   🟡 Moderate: 35-64   |   🔴 High: 65-100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011680"/>
            <a:ext cx="493776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2194560"/>
            <a:ext cx="4389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43325"/>
                </a:solidFill>
                <a:latin typeface="Georgia"/>
              </a:defRPr>
            </a:pPr>
            <a:r>
              <a:t>2. Intent-Preserving Utility Score</a:t>
            </a:r>
          </a:p>
          <a:p>
            <a:pPr>
              <a:spcBef>
                <a:spcPts val="800"/>
              </a:spcBef>
              <a:defRPr sz="1100" b="1">
                <a:solidFill>
                  <a:srgbClr val="0284C7"/>
                </a:solidFill>
                <a:latin typeface="Courier New"/>
              </a:defRPr>
            </a:pPr>
            <a:r>
              <a:t>UtilityScore(c) = 0.30(Slow_crowd) + 0.25(Sintent) + 0.20(Stravel) + 0.15(Shours) + 0.10(Sweather)</a:t>
            </a:r>
          </a:p>
          <a:p>
            <a:pPr>
              <a:spcBef>
                <a:spcPts val="1000"/>
              </a:spcBef>
              <a:defRPr sz="1200">
                <a:solidFill>
                  <a:srgbClr val="1C241E"/>
                </a:solidFill>
                <a:latin typeface="Arial"/>
              </a:defRPr>
            </a:pPr>
            <a:r>
              <a:t>Stage 1: Primary intent extraction ('sunset_waterfront', 'royal_heritage').</a:t>
            </a:r>
            <a:br/>
            <a:r>
              <a:t>Stage 2: Hard filter: Operating hours, radius &lt;=10km, capacity ceiling.</a:t>
            </a:r>
            <a:br/>
            <a:r>
              <a:t>Stage 3: Multi-attribute scoring across crowd, transit, and weather.</a:t>
            </a:r>
            <a:br/>
            <a:r>
              <a:t>Stage 4: Time-Shift Fallback: If no alternative scores &gt;=0.65, recommend quiet off-peak window at original site (09:15 AM).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640080"/>
            <a:ext cx="2926080" cy="320040"/>
          </a:xfrm>
          <a:prstGeom prst="roundRect">
            <a:avLst/>
          </a:prstGeom>
          <a:solidFill>
            <a:srgbClr val="F1ECE0"/>
          </a:solidFill>
          <a:ln>
            <a:solidFill>
              <a:srgbClr val="F1E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5A655F"/>
                </a:solidFill>
                <a:latin typeface="Arial"/>
              </a:defRPr>
            </a:pPr>
            <a:r>
              <a:t>CORE PRODUCT DIFFERENTIATOR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C241E"/>
                </a:solidFill>
                <a:latin typeface="Georgia"/>
              </a:defRPr>
            </a:pPr>
            <a:r>
              <a:t>Intent Preservation: The Substitution Graph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10332720" cy="868680"/>
          </a:xfrm>
          <a:prstGeom prst="roundRect">
            <a:avLst/>
          </a:prstGeom>
          <a:solidFill>
            <a:srgbClr val="143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FE859"/>
                </a:solidFill>
                <a:latin typeface="Arial"/>
              </a:defRPr>
            </a:pPr>
            <a:r>
              <a:t>OVERCROWDED SPOT           |  HIGH CROWD TRIGGER            |  INTENT-MATCHED ALTERNATIVE    |  BENEFIT TO TOURIST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017520"/>
            <a:ext cx="1033272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9966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1C241E"/>
                </a:solidFill>
                <a:latin typeface="Arial"/>
              </a:defRPr>
            </a:pPr>
            <a:r>
              <a:t>City Palace</a:t>
            </a:r>
            <a:br/>
            <a:r>
              <a:t>(Heritage Complex)  |  Peak 11:30 - 3:30 PM</a:t>
            </a:r>
            <a:br/>
            <a:r>
              <a:t>88% Capacity (90m queue)  |  Ahar Cenotaphs or</a:t>
            </a:r>
            <a:br/>
            <a:r>
              <a:t>Bagore Ki Haveli  |  Preserves royal Rajput architecture intent.</a:t>
            </a:r>
            <a:br/>
            <a:r>
              <a:t>250 royal cenotaphs, &lt;5 min queue.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297680"/>
            <a:ext cx="1033272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389120"/>
            <a:ext cx="9966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1C241E"/>
                </a:solidFill>
                <a:latin typeface="Arial"/>
              </a:defRPr>
            </a:pPr>
            <a:r>
              <a:t>Lake Pichola</a:t>
            </a:r>
            <a:br/>
            <a:r>
              <a:t>(Sunset Boating)  |  Peak 4:00 - 6:30 PM</a:t>
            </a:r>
            <a:br/>
            <a:r>
              <a:t>96% Capacity (Pichola Ghats)  |  Fateh Sagar Lake</a:t>
            </a:r>
            <a:br/>
            <a:r>
              <a:t>(Promenade &amp; Boating)  |  Preserves sunset waterfront &amp; boating.</a:t>
            </a:r>
            <a:br/>
            <a:r>
              <a:t>2x boarding dock speed, open boulevard.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577840"/>
            <a:ext cx="1033272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669280"/>
            <a:ext cx="9966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1C241E"/>
                </a:solidFill>
                <a:latin typeface="Arial"/>
              </a:defRPr>
            </a:pPr>
            <a:r>
              <a:t>Sajjangarh</a:t>
            </a:r>
            <a:br/>
            <a:r>
              <a:t>(Monsoon Palace)  |  Peak 4:30 - 6:00 PM</a:t>
            </a:r>
            <a:br/>
            <a:r>
              <a:t>98% (Mountain road jammed)  |  Bahubali Hills /</a:t>
            </a:r>
            <a:br/>
            <a:r>
              <a:t>Badi Lake Vista  |  Preserves 360-degree sunset mountain vista.</a:t>
            </a:r>
            <a:br/>
            <a:r>
              <a:t>Open scenic space with zero car jam.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640080"/>
            <a:ext cx="3291840" cy="320040"/>
          </a:xfrm>
          <a:prstGeom prst="roundRect">
            <a:avLst/>
          </a:prstGeom>
          <a:solidFill>
            <a:srgbClr val="F1ECE0"/>
          </a:solidFill>
          <a:ln>
            <a:solidFill>
              <a:srgbClr val="F1E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5A655F"/>
                </a:solidFill>
                <a:latin typeface="Arial"/>
              </a:defRPr>
            </a:pPr>
            <a:r>
              <a:t>DYNAMIC ROUTE RE-PLANNING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C241E"/>
                </a:solidFill>
                <a:latin typeface="Georgia"/>
              </a:defRPr>
            </a:pPr>
            <a:r>
              <a:t>Handling Sudden In-Trip Disruptions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1033272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94560"/>
            <a:ext cx="9784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43325"/>
                </a:solidFill>
                <a:latin typeface="Georgia"/>
              </a:defRPr>
            </a:pPr>
            <a:r>
              <a:t>Scenario: Sudden Monsoon Downpour at 3:45 PM (Open-Meteo Trigger)</a:t>
            </a:r>
          </a:p>
          <a:p>
            <a:pPr>
              <a:spcBef>
                <a:spcPts val="1200"/>
              </a:spcBef>
              <a:defRPr sz="1300">
                <a:solidFill>
                  <a:srgbClr val="1C241E"/>
                </a:solidFill>
                <a:latin typeface="Arial"/>
              </a:defRPr>
            </a:pPr>
            <a:r>
              <a:t>ORIGINAL ITINERARY:</a:t>
            </a:r>
            <a:br/>
            <a:r>
              <a:t>• 09:30 AM: City Palace (Heritage) -&gt; Low Crowd (09:15 window)</a:t>
            </a:r>
            <a:br/>
            <a:r>
              <a:t>• 12:15 PM: Saheliyon-ki-Bari (Gardens) -&gt; Moderate Crowd</a:t>
            </a:r>
            <a:br/>
            <a:r>
              <a:t>• 04:00 PM: Lake Pichola Boating -&gt; [DISRUPTION: Precipitation 18mm/h -&gt; Extreme Weather Risk]</a:t>
            </a:r>
            <a:br/>
            <a:r>
              <a:t>• 06:45 PM: Bagore Ki Haveli (Folk Dance)</a:t>
            </a:r>
          </a:p>
          <a:p>
            <a:pPr>
              <a:spcBef>
                <a:spcPts val="1600"/>
              </a:spcBef>
              <a:defRPr sz="1300" b="1">
                <a:solidFill>
                  <a:srgbClr val="143325"/>
                </a:solidFill>
                <a:latin typeface="Arial"/>
              </a:defRPr>
            </a:pPr>
            <a:r>
              <a:t>AUTO-REPLANNED ITINERARY VIA /api/itineraries/replan (&lt; 15 seconds):</a:t>
            </a:r>
            <a:br/>
            <a:r>
              <a:t>• Lake Pichola boating is automatically flagged High Weather Risk.</a:t>
            </a:r>
            <a:br/>
            <a:r>
              <a:t>• Swapped to indoor Bagore Ki Haveli Haveli Museum &amp; Mirror Glass Galleries.</a:t>
            </a:r>
            <a:br/>
            <a:r>
              <a:t>• Transparent Change Diff: 'Replaced outdoor boating with indoor haveli museum. 45 min delay averted, zero rain exposure.'</a:t>
            </a:r>
            <a:br/>
            <a:r>
              <a:t>• Total transit time recalculated via OSRM turn-by-turn routing.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3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640080"/>
            <a:ext cx="3291840" cy="320040"/>
          </a:xfrm>
          <a:prstGeom prst="roundRect">
            <a:avLst/>
          </a:prstGeom>
          <a:solidFill>
            <a:srgbClr val="1B4231"/>
          </a:solidFill>
          <a:ln>
            <a:solidFill>
              <a:srgbClr val="1B4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9FE859"/>
                </a:solidFill>
                <a:latin typeface="Arial"/>
              </a:defRPr>
            </a:pPr>
            <a:r>
              <a:t>SYSTEM ARCHITECTURE &amp; 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Georgia"/>
              </a:defRPr>
            </a:pPr>
            <a:r>
              <a:t>Decoupled, Production-Ready Micro-Architecture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2377440" cy="4114800"/>
          </a:xfrm>
          <a:prstGeom prst="roundRect">
            <a:avLst/>
          </a:prstGeom>
          <a:solidFill>
            <a:srgbClr val="1B4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194560"/>
            <a:ext cx="2103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Georgia"/>
              </a:defRPr>
            </a:pPr>
            <a:r>
              <a:t>Frontend Client</a:t>
            </a:r>
          </a:p>
          <a:p>
            <a:pPr>
              <a:defRPr sz="1100" b="1">
                <a:solidFill>
                  <a:srgbClr val="9FE859"/>
                </a:solidFill>
                <a:latin typeface="Arial"/>
              </a:defRPr>
            </a:pPr>
            <a:r>
              <a:t>REACT + LEAFLET</a:t>
            </a:r>
          </a:p>
          <a:p>
            <a:pPr>
              <a:spcBef>
                <a:spcPts val="1000"/>
              </a:spcBef>
              <a:defRPr sz="1300">
                <a:solidFill>
                  <a:srgbClr val="C0CFC7"/>
                </a:solidFill>
                <a:latin typeface="Arial"/>
              </a:defRPr>
            </a:pPr>
            <a:r>
              <a:t>Responsive UI, interactive GIS map, 5 provenance badges, dynamic replanning drawer, Advocado-inspired warm aesthetic.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2011680"/>
            <a:ext cx="2377440" cy="4114800"/>
          </a:xfrm>
          <a:prstGeom prst="roundRect">
            <a:avLst/>
          </a:prstGeom>
          <a:solidFill>
            <a:srgbClr val="1B4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03320" y="2194560"/>
            <a:ext cx="2103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Georgia"/>
              </a:defRPr>
            </a:pPr>
            <a:r>
              <a:t>API Gateway</a:t>
            </a:r>
          </a:p>
          <a:p>
            <a:pPr>
              <a:defRPr sz="1100" b="1">
                <a:solidFill>
                  <a:srgbClr val="9FE859"/>
                </a:solidFill>
                <a:latin typeface="Arial"/>
              </a:defRPr>
            </a:pPr>
            <a:r>
              <a:t>NODE.JS + EXPRESS</a:t>
            </a:r>
          </a:p>
          <a:p>
            <a:pPr>
              <a:spcBef>
                <a:spcPts val="1000"/>
              </a:spcBef>
              <a:defRPr sz="1300">
                <a:solidFill>
                  <a:srgbClr val="C0CFC7"/>
                </a:solidFill>
                <a:latin typeface="Arial"/>
              </a:defRPr>
            </a:pPr>
            <a:r>
              <a:t>8 REST endpoints, JWT session handling, rate limiting, scoring engine, inter-attraction distance matrix caching.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2377440" cy="4114800"/>
          </a:xfrm>
          <a:prstGeom prst="roundRect">
            <a:avLst/>
          </a:prstGeom>
          <a:solidFill>
            <a:srgbClr val="1B4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2194560"/>
            <a:ext cx="2103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Georgia"/>
              </a:defRPr>
            </a:pPr>
            <a:r>
              <a:t>Data &amp; Cache</a:t>
            </a:r>
          </a:p>
          <a:p>
            <a:pPr>
              <a:defRPr sz="1100" b="1">
                <a:solidFill>
                  <a:srgbClr val="9FE859"/>
                </a:solidFill>
                <a:latin typeface="Arial"/>
              </a:defRPr>
            </a:pPr>
            <a:r>
              <a:t>MONGODB ATLAS</a:t>
            </a:r>
          </a:p>
          <a:p>
            <a:pPr>
              <a:spcBef>
                <a:spcPts val="1000"/>
              </a:spcBef>
              <a:defRPr sz="1300">
                <a:solidFill>
                  <a:srgbClr val="C0CFC7"/>
                </a:solidFill>
                <a:latin typeface="Arial"/>
              </a:defRPr>
            </a:pPr>
            <a:r>
              <a:t>Geospatial 2dsphere indexing for radius queries, historical crowd profiles, decaying citizen observation collections.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2011680"/>
            <a:ext cx="2377440" cy="4114800"/>
          </a:xfrm>
          <a:prstGeom prst="roundRect">
            <a:avLst/>
          </a:prstGeom>
          <a:solidFill>
            <a:srgbClr val="1B4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2194560"/>
            <a:ext cx="2103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Georgia"/>
              </a:defRPr>
            </a:pPr>
            <a:r>
              <a:t>GIS &amp; Live Feeds</a:t>
            </a:r>
          </a:p>
          <a:p>
            <a:pPr>
              <a:defRPr sz="1100" b="1">
                <a:solidFill>
                  <a:srgbClr val="9FE859"/>
                </a:solidFill>
                <a:latin typeface="Arial"/>
              </a:defRPr>
            </a:pPr>
            <a:r>
              <a:t>OSRM + OPEN-METEO</a:t>
            </a:r>
          </a:p>
          <a:p>
            <a:pPr>
              <a:spcBef>
                <a:spcPts val="1000"/>
              </a:spcBef>
              <a:defRPr sz="1300">
                <a:solidFill>
                  <a:srgbClr val="C0CFC7"/>
                </a:solidFill>
                <a:latin typeface="Arial"/>
              </a:defRPr>
            </a:pPr>
            <a:r>
              <a:t>Turn-by-turn road routing, hourly live rainfall &amp; temperature feeds, zero proprietary API billing costs.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640080"/>
            <a:ext cx="3840480" cy="320040"/>
          </a:xfrm>
          <a:prstGeom prst="roundRect">
            <a:avLst/>
          </a:prstGeom>
          <a:solidFill>
            <a:srgbClr val="F1ECE0"/>
          </a:solidFill>
          <a:ln>
            <a:solidFill>
              <a:srgbClr val="F1E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5A655F"/>
                </a:solidFill>
                <a:latin typeface="Arial"/>
              </a:defRPr>
            </a:pPr>
            <a:r>
              <a:t>RESPONSIBLE TOURISM &amp; SAFETY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C241E"/>
                </a:solidFill>
                <a:latin typeface="Georgia"/>
              </a:defRPr>
            </a:pPr>
            <a:r>
              <a:t>Real-World Drawbacks &amp; Operational Safeguards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493776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4884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3325"/>
                </a:solidFill>
                <a:latin typeface="Georgia"/>
              </a:defRPr>
            </a:pPr>
            <a:r>
              <a:t>1. Overtourism Displacement</a:t>
            </a:r>
          </a:p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PREVENTING STAMPEDES INTO QUIET RESIDENTIAL LANES</a:t>
            </a:r>
          </a:p>
          <a:p>
            <a:pPr>
              <a:spcBef>
                <a:spcPts val="400"/>
              </a:spcBef>
              <a:defRPr sz="1200">
                <a:solidFill>
                  <a:srgbClr val="1C241E"/>
                </a:solidFill>
                <a:latin typeface="Arial"/>
              </a:defRPr>
            </a:pPr>
            <a:r>
              <a:t>Carrying capacity ceilings on all candidate alternatives; dynamic diversification across top-3 candidates so concurrent users are split; fragile heritage conservation blacklists.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011680"/>
            <a:ext cx="493776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14884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3325"/>
                </a:solidFill>
                <a:latin typeface="Georgia"/>
              </a:defRPr>
            </a:pPr>
            <a:r>
              <a:t>2. Crowdsource Manipulation</a:t>
            </a:r>
          </a:p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DEFEATING MALICIOUS FAKE HIGH-CROWD REPORTS</a:t>
            </a:r>
          </a:p>
          <a:p>
            <a:pPr>
              <a:spcBef>
                <a:spcPts val="400"/>
              </a:spcBef>
              <a:defRPr sz="1200">
                <a:solidFill>
                  <a:srgbClr val="1C241E"/>
                </a:solidFill>
                <a:latin typeface="Arial"/>
              </a:defRPr>
            </a:pPr>
            <a:r>
              <a:t>Strict rate-limiting (max 1 report/15 min per IP), exponential decay (30-min half-life), and mandatory 3-report concordant consensus before modifying predicted status.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206240"/>
            <a:ext cx="493776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3434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3325"/>
                </a:solidFill>
                <a:latin typeface="Georgia"/>
              </a:defRPr>
            </a:pPr>
            <a:r>
              <a:t>3. Cold-Start on Hidden Gems</a:t>
            </a:r>
          </a:p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HANDLING ATTRACTIONS WITH ZERO HISTORICAL OBSERVATIONS</a:t>
            </a:r>
          </a:p>
          <a:p>
            <a:pPr>
              <a:spcBef>
                <a:spcPts val="400"/>
              </a:spcBef>
              <a:defRPr sz="1200">
                <a:solidFill>
                  <a:srgbClr val="1C241E"/>
                </a:solidFill>
                <a:latin typeface="Arial"/>
              </a:defRPr>
            </a:pPr>
            <a:r>
              <a:t>Never fabricating synthetic numbers. Explicitly tagging destination with 'INSUFFICIENT DATA' badge with low confidence weighting, prompting visitors to verify.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206240"/>
            <a:ext cx="493776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3434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3325"/>
                </a:solidFill>
                <a:latin typeface="Georgia"/>
              </a:defRPr>
            </a:pPr>
            <a:r>
              <a:t>4. User Privacy by Design</a:t>
            </a:r>
          </a:p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ELIMINATING SURVEILLANCE AND LOCATION TRACKING LIABILITY</a:t>
            </a:r>
          </a:p>
          <a:p>
            <a:pPr>
              <a:spcBef>
                <a:spcPts val="400"/>
              </a:spcBef>
              <a:defRPr sz="1200">
                <a:solidFill>
                  <a:srgbClr val="1C241E"/>
                </a:solidFill>
                <a:latin typeface="Arial"/>
              </a:defRPr>
            </a:pPr>
            <a:r>
              <a:t>Zero continuous background GPS tracking. Manual origin/destination input supported. Ephemeral session tokens purged immediately upon trip completion.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640080"/>
            <a:ext cx="3291840" cy="320040"/>
          </a:xfrm>
          <a:prstGeom prst="roundRect">
            <a:avLst/>
          </a:prstGeom>
          <a:solidFill>
            <a:srgbClr val="F1ECE0"/>
          </a:solidFill>
          <a:ln>
            <a:solidFill>
              <a:srgbClr val="F1E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5A655F"/>
                </a:solidFill>
                <a:latin typeface="Arial"/>
              </a:defRPr>
            </a:pPr>
            <a:r>
              <a:t>WORKING PROTOTYPE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C241E"/>
                </a:solidFill>
                <a:latin typeface="Georgia"/>
              </a:defRPr>
            </a:pPr>
            <a:r>
              <a:t>Live Working Demonstration &amp;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32004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2834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143325"/>
                </a:solidFill>
                <a:latin typeface="Georgia"/>
              </a:defRPr>
            </a:pPr>
            <a:r>
              <a:t>82%</a:t>
            </a:r>
          </a:p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PEAK BOTTLEPRESSURE DIVERTED</a:t>
            </a:r>
          </a:p>
          <a:p>
            <a:pPr>
              <a:spcBef>
                <a:spcPts val="400"/>
              </a:spcBef>
              <a:defRPr sz="1100">
                <a:solidFill>
                  <a:srgbClr val="1C241E"/>
                </a:solidFill>
                <a:latin typeface="Arial"/>
              </a:defRPr>
            </a:pPr>
            <a:r>
              <a:t>When visitors adopt intent-matched alternative suggestions at peak 1:00 PM.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2011680"/>
            <a:ext cx="32004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103120"/>
            <a:ext cx="2834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143325"/>
                </a:solidFill>
                <a:latin typeface="Georgia"/>
              </a:defRPr>
            </a:pPr>
            <a:r>
              <a:t>&lt; 15s</a:t>
            </a:r>
          </a:p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RE-PLANNING EXECUTION LATENCY</a:t>
            </a:r>
          </a:p>
          <a:p>
            <a:pPr>
              <a:spcBef>
                <a:spcPts val="400"/>
              </a:spcBef>
              <a:defRPr sz="1100">
                <a:solidFill>
                  <a:srgbClr val="1C241E"/>
                </a:solidFill>
                <a:latin typeface="Arial"/>
              </a:defRPr>
            </a:pPr>
            <a:r>
              <a:t>From sudden rainfall or gate closure alert to recalculated multi-stop route.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011680"/>
            <a:ext cx="32004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103120"/>
            <a:ext cx="2834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143325"/>
                </a:solidFill>
                <a:latin typeface="Georgia"/>
              </a:defRPr>
            </a:pPr>
            <a:r>
              <a:t>100%</a:t>
            </a:r>
          </a:p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INTENT PRESERVATION RATE</a:t>
            </a:r>
          </a:p>
          <a:p>
            <a:pPr>
              <a:spcBef>
                <a:spcPts val="400"/>
              </a:spcBef>
              <a:defRPr sz="1100">
                <a:solidFill>
                  <a:srgbClr val="1C241E"/>
                </a:solidFill>
                <a:latin typeface="Arial"/>
              </a:defRPr>
            </a:pPr>
            <a:r>
              <a:t>Every sunset lake view matches another lake; royal history stays royal history.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480560"/>
            <a:ext cx="10332720" cy="1737360"/>
          </a:xfrm>
          <a:prstGeom prst="roundRect">
            <a:avLst/>
          </a:prstGeom>
          <a:solidFill>
            <a:srgbClr val="143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572000"/>
            <a:ext cx="9784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9FE859"/>
                </a:solidFill>
                <a:latin typeface="Arial"/>
              </a:defRPr>
            </a:pPr>
            <a:r>
              <a:t>LIVE MVP ACCESS AT HACKATHON BOOTH: http://localhost:8080/index.html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Interactive Leaflet Map with live crowd heat overlays.</a:t>
            </a:r>
            <a:br/>
            <a:r>
              <a:t>• Live Time-of-Day Slider (08:00 to 18:00) with instant multi-factor score recalculation.</a:t>
            </a:r>
            <a:br/>
            <a:r>
              <a:t>• 1-Click Disruption Simulator triggering /api/itineraries/replan with transparent change diff.</a:t>
            </a:r>
            <a:br/>
            <a:r>
              <a:t>• Citizen queue reporting form with 30-min half-life decay simulation.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640080"/>
            <a:ext cx="3474720" cy="320040"/>
          </a:xfrm>
          <a:prstGeom prst="roundRect">
            <a:avLst/>
          </a:prstGeom>
          <a:solidFill>
            <a:srgbClr val="F1ECE0"/>
          </a:solidFill>
          <a:ln>
            <a:solidFill>
              <a:srgbClr val="F1E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5A655F"/>
                </a:solidFill>
                <a:latin typeface="Arial"/>
              </a:defRPr>
            </a:pPr>
            <a:r>
              <a:t>HACKATHON EVALUATION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C241E"/>
                </a:solidFill>
                <a:latin typeface="Georgia"/>
              </a:defRPr>
            </a:pPr>
            <a:r>
              <a:t>Judge Q&amp;A Playbook: Defensible Answers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493776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4884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3325"/>
                </a:solidFill>
                <a:latin typeface="Georgia"/>
              </a:defRPr>
            </a:pPr>
            <a:r>
              <a:t>Q: Where does live crowd data come from?</a:t>
            </a:r>
          </a:p>
          <a:p>
            <a:pPr>
              <a:spcBef>
                <a:spcPts val="600"/>
              </a:spcBef>
              <a:defRPr sz="1200">
                <a:solidFill>
                  <a:srgbClr val="1C241E"/>
                </a:solidFill>
                <a:latin typeface="Arial"/>
              </a:defRPr>
            </a:pPr>
            <a:r>
              <a:t>A: 80% is predictable seasonality/hourly curves from Rajasthan Tourism records. The remaining 20% variance is captured via real-time proxies: TomTom road congestion, ticket slot booking saturation, and decaying citizen reports. We do not fake sensor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011680"/>
            <a:ext cx="493776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14884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3325"/>
                </a:solidFill>
                <a:latin typeface="Georgia"/>
              </a:defRPr>
            </a:pPr>
            <a:r>
              <a:t>Q: Google Maps already has Popular Times. Why build this?</a:t>
            </a:r>
          </a:p>
          <a:p>
            <a:pPr>
              <a:spcBef>
                <a:spcPts val="600"/>
              </a:spcBef>
              <a:defRPr sz="1200">
                <a:solidFill>
                  <a:srgbClr val="1C241E"/>
                </a:solidFill>
                <a:latin typeface="Arial"/>
              </a:defRPr>
            </a:pPr>
            <a:r>
              <a:t>A: Google Maps is a passive single-location lookup tool with zero intent preservation. It won't find sunset alternatives, check closing hours, optimize multi-stop routes, or dynamically replan when rain strikes.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206240"/>
            <a:ext cx="493776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3434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3325"/>
                </a:solidFill>
                <a:latin typeface="Georgia"/>
              </a:defRPr>
            </a:pPr>
            <a:r>
              <a:t>Q: Why use AI instead of simple fixed rules?</a:t>
            </a:r>
          </a:p>
          <a:p>
            <a:pPr>
              <a:spcBef>
                <a:spcPts val="600"/>
              </a:spcBef>
              <a:defRPr sz="1200">
                <a:solidFill>
                  <a:srgbClr val="1C241E"/>
                </a:solidFill>
                <a:latin typeface="Arial"/>
              </a:defRPr>
            </a:pPr>
            <a:r>
              <a:t>A: We start with a transparent rule-based baseline for guaranteed reliability. We introduce machine learning (Random Forest) only when cumulative verified observations demonstrate statistically proven improvement on held-out dates.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206240"/>
            <a:ext cx="493776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E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3434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3325"/>
                </a:solidFill>
                <a:latin typeface="Georgia"/>
              </a:defRPr>
            </a:pPr>
            <a:r>
              <a:t>Q: How do you measure accuracy without ground truth?</a:t>
            </a:r>
          </a:p>
          <a:p>
            <a:pPr>
              <a:spcBef>
                <a:spcPts val="600"/>
              </a:spcBef>
              <a:defRPr sz="1200">
                <a:solidFill>
                  <a:srgbClr val="1C241E"/>
                </a:solidFill>
                <a:latin typeface="Arial"/>
              </a:defRPr>
            </a:pPr>
            <a:r>
              <a:t>A: Time-Based Holdout Validation (training on days 1..N-14, evaluating on days N-13..N, preventing random data leakage). We evaluate Macro F1-Score on 3-class crowd levels and MAE on queue durations.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3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822960"/>
            <a:ext cx="2560320" cy="347472"/>
          </a:xfrm>
          <a:prstGeom prst="roundRect">
            <a:avLst/>
          </a:prstGeom>
          <a:solidFill>
            <a:srgbClr val="1B4231"/>
          </a:solidFill>
          <a:ln>
            <a:solidFill>
              <a:srgbClr val="1B4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9FE859"/>
                </a:solidFill>
                <a:latin typeface="Arial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Georgia"/>
              </a:defRPr>
            </a:pPr>
            <a:r>
              <a:t>We do not simply tell tourists where to go.</a:t>
            </a:r>
          </a:p>
          <a:p>
            <a:pPr>
              <a:spcBef>
                <a:spcPts val="800"/>
              </a:spcBef>
              <a:defRPr sz="3200" i="1">
                <a:solidFill>
                  <a:srgbClr val="9FE859"/>
                </a:solidFill>
                <a:latin typeface="Georgia"/>
              </a:defRPr>
            </a:pPr>
            <a:r>
              <a:t>We empower them to choose when to go, protect them from bottlenecks, preserve their authentic travel intent, and intelligently adapt their entire route when conditions change.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754880"/>
            <a:ext cx="10332720" cy="1371600"/>
          </a:xfrm>
          <a:prstGeom prst="roundRect">
            <a:avLst/>
          </a:prstGeom>
          <a:solidFill>
            <a:srgbClr val="1B4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4846320"/>
            <a:ext cx="9784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9FE859"/>
                </a:solidFill>
                <a:latin typeface="Arial"/>
              </a:defRPr>
            </a:pPr>
            <a:r>
              <a:t>THE EXPANSION ROADMAP: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1. Rajasthan Tourism Department Admin Portal: Direct capacity management &amp; event notices.</a:t>
            </a:r>
            <a:br/>
            <a:r>
              <a:t>2. Local Tour Guide &amp; Electric Rickshaw Integration: Dispersing tourist traffic through curated heritage walks.</a:t>
            </a:r>
            <a:br/>
            <a:r>
              <a:t>3. Multi-City Expansion: Jaipur, Jodhpur, Pushkar, and Agra using the identical 4-Tier Ingestion Engine.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